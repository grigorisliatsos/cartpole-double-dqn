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50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5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13.png"/><Relationship Id="rId18" Type="http://schemas.openxmlformats.org/officeDocument/2006/relationships/image" Target="../media/image17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notesSlide" Target="../notesSlides/notesSlide11.xml"/><Relationship Id="rId17" Type="http://schemas.openxmlformats.org/officeDocument/2006/relationships/image" Target="../media/image12.png"/><Relationship Id="rId2" Type="http://schemas.openxmlformats.org/officeDocument/2006/relationships/video" Target="../media/media1.mp4"/><Relationship Id="rId16" Type="http://schemas.openxmlformats.org/officeDocument/2006/relationships/image" Target="../media/image16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slideLayout" Target="../slideLayouts/slideLayout1.xml"/><Relationship Id="rId5" Type="http://schemas.microsoft.com/office/2007/relationships/media" Target="../media/media3.mp4"/><Relationship Id="rId15" Type="http://schemas.openxmlformats.org/officeDocument/2006/relationships/image" Target="../media/image15.png"/><Relationship Id="rId10" Type="http://schemas.openxmlformats.org/officeDocument/2006/relationships/video" Target="../media/media5.mp4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92608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71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25880" y="62179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Βαθιά Ενισχυτική Μάθηση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" y="160020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Επίλυση CartPole-v1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28600" y="230428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Deep Q-Network (DQN)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95528" y="3246120"/>
            <a:ext cx="1737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3246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CartPole-v1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34056" y="3246120"/>
            <a:ext cx="1737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34056" y="3246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72584" y="3246120"/>
            <a:ext cx="1737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584" y="3246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11112" y="3246120"/>
            <a:ext cx="1737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1112" y="3246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860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Εαρινό Εξάμηνο 2025–2026  |  Υποβολή: 23/05/2026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FA56EA-32FA-473D-ADCA-AA7F78DF091E}"/>
              </a:ext>
            </a:extLst>
          </p:cNvPr>
          <p:cNvSpPr txBox="1"/>
          <p:nvPr/>
        </p:nvSpPr>
        <p:spPr>
          <a:xfrm>
            <a:off x="610239" y="3887691"/>
            <a:ext cx="24032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Φοιτητής: Λιάτσος Γρηγόρης</a:t>
            </a:r>
          </a:p>
          <a:p>
            <a:r>
              <a:rPr lang="el-G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Α.Ε.Μ.: 4540</a:t>
            </a:r>
          </a:p>
          <a:p>
            <a:r>
              <a:rPr lang="el-G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Υπεύθυνος Καθηγητής: Τέφας Αναστάσιος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Δομή Παρουσίασης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841248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9326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8412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Περιγραφή Προβλήματος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61872" y="111556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CartPole-v1 – Χώρος κατάστασης &amp; δράσεων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56032" y="137160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032" y="1627632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56032" y="1627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7190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16276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 &amp; Αλγόριθμος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61872" y="190195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MLP, Double DQN, τεχνικές εκπαίδευσης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56032" y="2157984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6032" y="2414016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256032" y="2414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5054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24140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Πειράματα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61872" y="2688336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rate, hidden size, epsilon decay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56032" y="2944368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56032" y="320040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256032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29184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61872" y="3200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Τελικό Μοντέλο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261872" y="347472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Βέλτιστες παράμετροι &amp; αποτελέσματα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56032" y="3730752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256032" y="3986784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256032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78224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61872" y="398678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Επίδειξη &amp; Συμπεράσματα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1261872" y="4261104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 play.py &amp; μελλοντικές επεκτάσεις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Περιγραφή Προβλήματος – CartPole-v1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το CartPole;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6032" y="1207008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Καρότσι σε οριζόντια ράγα με εκκρεμές.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Στόχος: Διατήρηση εκκρεμούς σε όρθια θέση.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Αποτυχία: Γωνία &gt;12° ή καρότσι εκτός ορίων.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Ανταμοιβή: +1 για κάθε βήμα επιβίωσης.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Μέγιστη ανταμοιβή: 500 βήματα ανά επεισόδιο.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8229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Χώρος Κατάστασης (4 μεταβλητές)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07008"/>
          <a:ext cx="4206240" cy="16703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Μεταβλητή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Περιγραφή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Εύρος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Θέση καροτσιού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[-4.8, 4.8]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Ταχύτητα καροτσιού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(-∞, +∞)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Γωνία εκκρεμούς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±0.418 rad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Γωνιακή ταχύτητα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(-∞, +∞)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663440" y="285292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Χώρος Δράσεων (2 δράσεις)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663440" y="3200400"/>
            <a:ext cx="201168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634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  →  Αριστερά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766560" y="320040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6656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  →  Δεξιά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63440" y="38221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Ανταμοιβή 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ανά βήμα  |  Μέγιστο: 500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Αρχιτεκτονική – Deep Q-Network (MLP)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2103120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Είσοδος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11430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neurons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80160" y="1399032"/>
            <a:ext cx="0" cy="2286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228600" y="1691640"/>
            <a:ext cx="2103120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" y="19659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 · ReLU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80160" y="2221992"/>
            <a:ext cx="0" cy="2286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228600" y="2514600"/>
            <a:ext cx="2103120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286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8600" y="278892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 · ReLU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280160" y="3044952"/>
            <a:ext cx="0" cy="22860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228600" y="3337560"/>
            <a:ext cx="2103120" cy="5120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2860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Έξοδος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8600" y="361188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Q-values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51760" y="868680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651760" y="868680"/>
            <a:ext cx="64008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86868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788920" y="1197864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για επιλογή δράσης, Target για αξιολόγηση → αποφυγή overestimation bias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651760" y="1892808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651760" y="1892808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88920" y="189280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88920" y="2221992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10.000 εμπειριών, τυχαία δειγματοληψία για σπάσιμο χρονικών συσχετίσεων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651760" y="2916936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651760" y="2916936"/>
            <a:ext cx="64008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88920" y="291693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788920" y="3246120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Ενημέρωση κάθε 1.000 βήματα για σταθερότητα εκπαίδευσης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651760" y="3941064"/>
            <a:ext cx="6217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651760" y="3941064"/>
            <a:ext cx="64008" cy="8686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88920" y="394106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Loss + Gradient Clipping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788920" y="4270248"/>
            <a:ext cx="6035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SmoothL1Loss αντί MSE · Κλίσεις περικοπή στο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Epsilon-Greedy – Εξερεύνηση vs Εκμετάλλευση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" y="8046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Εκθετική Μείωση του 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170432"/>
            <a:ext cx="8631936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" y="1170432"/>
            <a:ext cx="8631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ε(t)  =  ε_end  +  (ε_start − ε_end) · exp(−t / decay)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6032" y="1883664"/>
            <a:ext cx="2798064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" y="1920240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Αρχή (ε ≈ 1.0)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0352" y="2304288"/>
            <a:ext cx="2249424" cy="0"/>
          </a:xfrm>
          <a:prstGeom prst="line">
            <a:avLst/>
          </a:prstGeom>
          <a:noFill/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235915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Καθαρή εξερεύνηση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Τυχαίες δράσεις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Απόκτηση εμπειριών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0" y="1883664"/>
            <a:ext cx="2798064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0" y="1920240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Μέση φάση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74720" y="2304288"/>
            <a:ext cx="2249424" cy="0"/>
          </a:xfrm>
          <a:prstGeom prst="line">
            <a:avLst/>
          </a:prstGeom>
          <a:noFill/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37560" y="235915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Μεικτή στρατηγική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Βαθμιαία αύξηση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εκμετάλλευσης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44768" y="1883664"/>
            <a:ext cx="2798064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44768" y="1920240"/>
            <a:ext cx="2798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Τέλος (ε ≈ 0.05)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19088" y="2304288"/>
            <a:ext cx="2249424" cy="0"/>
          </a:xfrm>
          <a:prstGeom prst="line">
            <a:avLst/>
          </a:prstGeom>
          <a:noFill/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1928" y="2359152"/>
            <a:ext cx="25237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Κυρίως εκμετάλλευση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εξερεύνηση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Σταθεροποίηση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56032" y="4069080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Παράμετρος decay ελέγχει την ταχύτητα μείωσης  →  Πειραματισμός: decay ∈ {100, 300, 600}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Πειράματα – Learning Rate (300 επεισόδια)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822960"/>
            <a:ext cx="457200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4920" y="8229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38404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074920" y="2578608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074920" y="2578608"/>
            <a:ext cx="64008" cy="1207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1208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Συμπέρασμα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212080" y="29077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0.0001 επέδειξε σταθερή σύγκλιση με καλύτερη τελική απόδοση.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0.01 προκάλεσε αστάθεια λόγω υπερβολικά μεγάλων ενημερώσεων βαρών.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6032" y="397764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Βέλτιστο: lr = 0.0001  |  Χαμηλότερο lr → σταθερότερη σύγκλιση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Πειράματα – Μέγεθος Κρυφών Επιπέδων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822960"/>
            <a:ext cx="457200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4920" y="8229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38404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074920" y="2578608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074920" y="2578608"/>
            <a:ext cx="64008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1208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Συμπέρασμα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212080" y="29077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= 128 βέλτιστη ισορροπία πολυπλοκότητας.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= 64: Underfitting | hidden = 256: Δυσκολία σύγκλισης λόγω αυξημένων παραμέτρων.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6032" y="397764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Βέλτιστο: hidden = 128  |  Αρκετό για CartPole χωρίς υπερπροσαρμογή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Πειράματα – Epsilon Decay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822960"/>
            <a:ext cx="457200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4920" y="8229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3840480" cy="12801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074920" y="2578608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5074920" y="2578608"/>
            <a:ext cx="64008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1208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Συμπέρασμα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212080" y="29077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= 300: Επίτευξη μέγιστης ανταμοιβής 500!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= 100: Γρήγορη εκμετάλλευση, ανεπαρκής εξερεύνηση.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= 600: Πολύ αργή σύγκλιση.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6032" y="397764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Βέλτιστο: decay = 300  |  Μοναδικό που επέτυχε τέλειο σκορ 500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Τελικό Μοντέλο – Βέλτιστες Παράμετροι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22960"/>
          <a:ext cx="5029200" cy="31577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Υπερπαράμετρος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Τιμή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Αιτιολόγηση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Σταθερή σύγκλιση χωρίς αστάθεια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Βέλτιστη ισορροπία πολυπλοκότητας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Epsilon 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Κατάλληλο για 800 επεισόδια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Σταθερή επιλογή για DQN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(γ)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Υψηλή εκτίμηση μελλοντικών ανταμοιβών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Επαρκές ιστορικό εμπειριών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Σταθερός στόχος εκπαίδευσης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822960"/>
            <a:ext cx="16002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914400"/>
            <a:ext cx="160020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577840" y="1426464"/>
            <a:ext cx="1600200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0" y="822960"/>
            <a:ext cx="16002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15200" y="914400"/>
            <a:ext cx="160020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315200" y="1426464"/>
            <a:ext cx="1600200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Επεισόδια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577840" y="1965960"/>
            <a:ext cx="1600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577840" y="2057400"/>
            <a:ext cx="160020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271.6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5577840" y="2569464"/>
            <a:ext cx="1600200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Last-20 avg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0" y="1965960"/>
            <a:ext cx="1600200" cy="10058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15200" y="2057400"/>
            <a:ext cx="160020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256.2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7315200" y="2569464"/>
            <a:ext cx="1600200" cy="3621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avg</a:t>
            </a:r>
            <a:endParaRPr lang="en-US" sz="10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27248"/>
            <a:ext cx="3840480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Αποτελέσματα Επίδειξης (play.py – 5 επεισόδια)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868680"/>
            <a:ext cx="1591056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6032" y="9052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" y="1261872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56032" y="199339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93392" y="868680"/>
            <a:ext cx="1591056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993392" y="9052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93392" y="1261872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993392" y="199339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30752" y="868680"/>
            <a:ext cx="1591056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30752" y="9052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30752" y="1261872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730752" y="199339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68112" y="868680"/>
            <a:ext cx="1591056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68112" y="9052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68112" y="1261872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5468112" y="199339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05472" y="868680"/>
            <a:ext cx="1591056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205472" y="9052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205472" y="1261872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7205472" y="199339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05840" y="2926080"/>
            <a:ext cx="228600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0584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Μέσος Όρος: 256.2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657600" y="2926080"/>
            <a:ext cx="228600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65760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Ελάχιστο: 239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09360" y="2926080"/>
            <a:ext cx="2286000" cy="731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30936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Μέγιστο: 272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56032" y="3794760"/>
            <a:ext cx="86319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56032" y="379476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3192" y="3794760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Παρατήρηση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93192" y="4123944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πράκτορας εμφανίζει σταθερή και αξιόπιστη απόδοση (256.2/500 μέσος όρος) χωρίς overfitting. Η επίδοση είναι σε πλήρη συμφωνία με τα αποτελέσματα εκπαίδευσης (Last-20 avg = 271.6).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4064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endParaRPr lang="el-GR" sz="2200" b="1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86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Είσοδος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860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Έξοδος</a:t>
            </a:r>
            <a:endParaRPr lang="en-US" sz="1200" dirty="0"/>
          </a:p>
        </p:txBody>
      </p:sp>
      <p:pic>
        <p:nvPicPr>
          <p:cNvPr id="39" name="rl-video-episode-0">
            <a:hlinkClick r:id="" action="ppaction://media"/>
            <a:extLst>
              <a:ext uri="{FF2B5EF4-FFF2-40B4-BE49-F238E27FC236}">
                <a16:creationId xmlns:a16="http://schemas.microsoft.com/office/drawing/2014/main" id="{C55CD350-A2FF-4E48-9FD0-9133CC65CA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40589" y="694706"/>
            <a:ext cx="2990850" cy="1993900"/>
          </a:xfrm>
          <a:prstGeom prst="rect">
            <a:avLst/>
          </a:prstGeom>
        </p:spPr>
      </p:pic>
      <p:pic>
        <p:nvPicPr>
          <p:cNvPr id="40" name="rl-video-episode-1">
            <a:hlinkClick r:id="" action="ppaction://media"/>
            <a:extLst>
              <a:ext uri="{FF2B5EF4-FFF2-40B4-BE49-F238E27FC236}">
                <a16:creationId xmlns:a16="http://schemas.microsoft.com/office/drawing/2014/main" id="{130464DD-7F6D-45BD-8C22-ED78556CA54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089142" y="686427"/>
            <a:ext cx="2990850" cy="1993900"/>
          </a:xfrm>
          <a:prstGeom prst="rect">
            <a:avLst/>
          </a:prstGeom>
        </p:spPr>
      </p:pic>
      <p:pic>
        <p:nvPicPr>
          <p:cNvPr id="41" name="rl-video-episode-2">
            <a:hlinkClick r:id="" action="ppaction://media"/>
            <a:extLst>
              <a:ext uri="{FF2B5EF4-FFF2-40B4-BE49-F238E27FC236}">
                <a16:creationId xmlns:a16="http://schemas.microsoft.com/office/drawing/2014/main" id="{7651BE9C-ED91-4546-9375-5FB03690FF8C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9728" y="2988834"/>
            <a:ext cx="2990850" cy="1993900"/>
          </a:xfrm>
          <a:prstGeom prst="rect">
            <a:avLst/>
          </a:prstGeom>
        </p:spPr>
      </p:pic>
      <p:pic>
        <p:nvPicPr>
          <p:cNvPr id="42" name="rl-video-episode-3">
            <a:hlinkClick r:id="" action="ppaction://media"/>
            <a:extLst>
              <a:ext uri="{FF2B5EF4-FFF2-40B4-BE49-F238E27FC236}">
                <a16:creationId xmlns:a16="http://schemas.microsoft.com/office/drawing/2014/main" id="{2FC1DAC5-D5AE-42AF-A0AE-F875C410F6B9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089142" y="2976118"/>
            <a:ext cx="2990850" cy="19939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BB286C5-BABB-4C99-95A6-38DCFF0EB8B1}"/>
              </a:ext>
            </a:extLst>
          </p:cNvPr>
          <p:cNvSpPr txBox="1"/>
          <p:nvPr/>
        </p:nvSpPr>
        <p:spPr>
          <a:xfrm>
            <a:off x="781927" y="67262"/>
            <a:ext cx="81243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</a:t>
            </a:r>
            <a:r>
              <a:rPr lang="el-GR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</a:t>
            </a:r>
            <a:r>
              <a:rPr lang="en-US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|</a:t>
            </a: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l-GR" sz="2200" b="1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Οπτικοποίηση</a:t>
            </a:r>
            <a:r>
              <a:rPr lang="el-GR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Συμπεριφοράς Πράκτορα (</a:t>
            </a:r>
            <a:r>
              <a:rPr lang="en-US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Inference) </a:t>
            </a:r>
            <a:r>
              <a:rPr lang="el-GR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- </a:t>
            </a:r>
            <a:r>
              <a:rPr lang="en-US" sz="2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Επ</a:t>
            </a:r>
            <a:r>
              <a:rPr lang="en-US" sz="2200" b="1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ίδειξη</a:t>
            </a:r>
            <a:endParaRPr lang="el-GR" sz="2200" b="1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  <a:p>
            <a:endParaRPr lang="el-GR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95E569CD-0C27-40C0-9E81-38C9087F8F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4856" y="97790"/>
            <a:ext cx="438912" cy="438912"/>
          </a:xfrm>
          <a:prstGeom prst="rect">
            <a:avLst/>
          </a:prstGeom>
        </p:spPr>
      </p:pic>
      <p:pic>
        <p:nvPicPr>
          <p:cNvPr id="8" name="rl-video-episode-4">
            <a:hlinkClick r:id="" action="ppaction://media"/>
            <a:extLst>
              <a:ext uri="{FF2B5EF4-FFF2-40B4-BE49-F238E27FC236}">
                <a16:creationId xmlns:a16="http://schemas.microsoft.com/office/drawing/2014/main" id="{F7720C69-E5D0-4D77-A866-64D7884458AC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084005" y="1617980"/>
            <a:ext cx="299085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4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Συμπεράσματα &amp; Μελλοντικές Επεκτάσεις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CartPole DQN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" y="8229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Συμπεράσματα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6032" y="1207008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+ Experience Replay: σταθερή εκπαίδευση χωρίς overestimation.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Βέλτιστες παράμετροι: lr=0.0001, hidden=128, decay=300.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Επίτευξη μέγιστης ανταμοιβής 500 (decay=300).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Σταθερή επίδοση 256.2/500 στην επίδειξη (5 επεισόδια).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MLP είναι επαρκές για χαμηλοδιάστατα περιβάλλοντα.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82296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Μελλοντικές Επεκτάσεις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120700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07008"/>
            <a:ext cx="6400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225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81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Χωριστή εκτίμηση V(s) και A(s,a)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865376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865376"/>
            <a:ext cx="6400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Experience Replay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21396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Βαρύτερο sampling στα σημαντικά samples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52374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523744"/>
            <a:ext cx="6400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LunarLander-v2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798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Εφαρμογή σε πιο σύνθετο περιβάλλον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182112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182112"/>
            <a:ext cx="6400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3200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 με CNN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92040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Pixel-based input με convolutional layers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56032" y="4096512"/>
            <a:ext cx="8631936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56032" y="4096512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αλγόριθμος Double DQN επέλυσε αποτελεσματικά το CartPole-v1 με σταθερή και αξιόπιστη επίδοση.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383280"/>
            <a:ext cx="8979408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3891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5564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Ευχαριστώ για την προσοχή σας!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56616" y="245491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Ερωτήσεις;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3493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CartPole-v1  ·  Deep Q-Network  ·  Double DQN  ·  PyTorch  ·  Gymnasium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Νοημοσύνη – Βαθιά Ενισχυτική Μάθηση  |  ΑΠΘ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971</Words>
  <Application>Microsoft Office PowerPoint</Application>
  <PresentationFormat>Προβολή στην οθόνη (16:9)</PresentationFormat>
  <Paragraphs>250</Paragraphs>
  <Slides>13</Slides>
  <Notes>13</Notes>
  <HiddenSlides>0</HiddenSlides>
  <MMClips>5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CartPole DQN</dc:title>
  <dc:subject>PptxGenJS Presentation</dc:subject>
  <dc:creator>PptxGenJS</dc:creator>
  <cp:lastModifiedBy>ΓΡΗΓΟΡΗΣ ΛΙΑΤΣΟΣ</cp:lastModifiedBy>
  <cp:revision>2</cp:revision>
  <dcterms:created xsi:type="dcterms:W3CDTF">2026-05-22T14:26:37Z</dcterms:created>
  <dcterms:modified xsi:type="dcterms:W3CDTF">2026-05-22T15:26:59Z</dcterms:modified>
</cp:coreProperties>
</file>